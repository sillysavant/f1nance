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gCe5omKaGPdzoaNzkzwXoZZ8ve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AEF9D3-0257-47C9-9EE1-C4A7F4DB1533}">
  <a:tblStyle styleId="{7FAEF9D3-0257-47C9-9EE1-C4A7F4DB153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2929800" y="208900"/>
            <a:ext cx="32844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F1nance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 Diagram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3566250" y="2511800"/>
            <a:ext cx="2011500" cy="6453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F1nance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1"/>
          <p:cNvGrpSpPr/>
          <p:nvPr/>
        </p:nvGrpSpPr>
        <p:grpSpPr>
          <a:xfrm>
            <a:off x="636711" y="3573480"/>
            <a:ext cx="312604" cy="556258"/>
            <a:chOff x="776275" y="736325"/>
            <a:chExt cx="416250" cy="886750"/>
          </a:xfrm>
        </p:grpSpPr>
        <p:sp>
          <p:nvSpPr>
            <p:cNvPr id="57" name="Google Shape;57;p1"/>
            <p:cNvSpPr/>
            <p:nvPr/>
          </p:nvSpPr>
          <p:spPr>
            <a:xfrm>
              <a:off x="821125" y="736325"/>
              <a:ext cx="325800" cy="3258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1"/>
            <p:cNvCxnSpPr>
              <a:stCxn id="57" idx="4"/>
            </p:cNvCxnSpPr>
            <p:nvPr/>
          </p:nvCxnSpPr>
          <p:spPr>
            <a:xfrm>
              <a:off x="984025" y="1062125"/>
              <a:ext cx="0" cy="325800"/>
            </a:xfrm>
            <a:prstGeom prst="straightConnector1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"/>
            <p:cNvCxnSpPr/>
            <p:nvPr/>
          </p:nvCxnSpPr>
          <p:spPr>
            <a:xfrm>
              <a:off x="776275" y="1137975"/>
              <a:ext cx="402600" cy="0"/>
            </a:xfrm>
            <a:prstGeom prst="straightConnector1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" name="Google Shape;60;p1"/>
            <p:cNvCxnSpPr/>
            <p:nvPr/>
          </p:nvCxnSpPr>
          <p:spPr>
            <a:xfrm flipH="1">
              <a:off x="778825" y="1395075"/>
              <a:ext cx="205200" cy="228000"/>
            </a:xfrm>
            <a:prstGeom prst="straightConnector1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1"/>
            <p:cNvCxnSpPr/>
            <p:nvPr/>
          </p:nvCxnSpPr>
          <p:spPr>
            <a:xfrm>
              <a:off x="984025" y="1396425"/>
              <a:ext cx="208500" cy="225300"/>
            </a:xfrm>
            <a:prstGeom prst="straightConnector1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" name="Google Shape;62;p1"/>
          <p:cNvSpPr txBox="1"/>
          <p:nvPr/>
        </p:nvSpPr>
        <p:spPr>
          <a:xfrm>
            <a:off x="167525" y="4053475"/>
            <a:ext cx="12204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"/>
          <p:cNvGrpSpPr/>
          <p:nvPr/>
        </p:nvGrpSpPr>
        <p:grpSpPr>
          <a:xfrm>
            <a:off x="817357" y="1394529"/>
            <a:ext cx="312604" cy="556258"/>
            <a:chOff x="776275" y="736325"/>
            <a:chExt cx="416250" cy="886750"/>
          </a:xfrm>
        </p:grpSpPr>
        <p:sp>
          <p:nvSpPr>
            <p:cNvPr id="64" name="Google Shape;64;p1"/>
            <p:cNvSpPr/>
            <p:nvPr/>
          </p:nvSpPr>
          <p:spPr>
            <a:xfrm>
              <a:off x="821125" y="736325"/>
              <a:ext cx="325800" cy="3258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" name="Google Shape;65;p1"/>
            <p:cNvCxnSpPr>
              <a:stCxn id="64" idx="4"/>
            </p:cNvCxnSpPr>
            <p:nvPr/>
          </p:nvCxnSpPr>
          <p:spPr>
            <a:xfrm>
              <a:off x="984025" y="1062125"/>
              <a:ext cx="0" cy="325800"/>
            </a:xfrm>
            <a:prstGeom prst="straightConnector1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" name="Google Shape;66;p1"/>
            <p:cNvCxnSpPr/>
            <p:nvPr/>
          </p:nvCxnSpPr>
          <p:spPr>
            <a:xfrm>
              <a:off x="776275" y="1137975"/>
              <a:ext cx="402600" cy="0"/>
            </a:xfrm>
            <a:prstGeom prst="straightConnector1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" name="Google Shape;67;p1"/>
            <p:cNvCxnSpPr/>
            <p:nvPr/>
          </p:nvCxnSpPr>
          <p:spPr>
            <a:xfrm flipH="1">
              <a:off x="778825" y="1395075"/>
              <a:ext cx="205200" cy="228000"/>
            </a:xfrm>
            <a:prstGeom prst="straightConnector1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" name="Google Shape;68;p1"/>
            <p:cNvCxnSpPr/>
            <p:nvPr/>
          </p:nvCxnSpPr>
          <p:spPr>
            <a:xfrm>
              <a:off x="984025" y="1396425"/>
              <a:ext cx="208500" cy="225300"/>
            </a:xfrm>
            <a:prstGeom prst="straightConnector1">
              <a:avLst/>
            </a:prstGeom>
            <a:noFill/>
            <a:ln cap="flat" cmpd="sng" w="285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9" name="Google Shape;69;p1"/>
          <p:cNvSpPr txBox="1"/>
          <p:nvPr/>
        </p:nvSpPr>
        <p:spPr>
          <a:xfrm>
            <a:off x="232650" y="2024000"/>
            <a:ext cx="14820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Guardians/Custodians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3703600" y="973000"/>
            <a:ext cx="1710600" cy="4848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Bank System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6955250" y="4168425"/>
            <a:ext cx="1710600" cy="4848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Payment Gateway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3762825" y="4152750"/>
            <a:ext cx="1710600" cy="5820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Financial Literacy Content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"/>
          <p:cNvCxnSpPr>
            <a:endCxn id="55" idx="1"/>
          </p:cNvCxnSpPr>
          <p:nvPr/>
        </p:nvCxnSpPr>
        <p:spPr>
          <a:xfrm flipH="1" rot="10800000">
            <a:off x="1372350" y="2834450"/>
            <a:ext cx="2193900" cy="94680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" name="Google Shape;74;p1"/>
          <p:cNvCxnSpPr/>
          <p:nvPr/>
        </p:nvCxnSpPr>
        <p:spPr>
          <a:xfrm flipH="1" rot="10800000">
            <a:off x="1470975" y="3090250"/>
            <a:ext cx="2082900" cy="88830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5" name="Google Shape;75;p1"/>
          <p:cNvSpPr txBox="1"/>
          <p:nvPr/>
        </p:nvSpPr>
        <p:spPr>
          <a:xfrm rot="-1379892">
            <a:off x="1146810" y="2679157"/>
            <a:ext cx="2275134" cy="6463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Register and create profile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Manage finance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Educate on financial literacy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 txBox="1"/>
          <p:nvPr/>
        </p:nvSpPr>
        <p:spPr>
          <a:xfrm rot="-1410962">
            <a:off x="1623083" y="3489004"/>
            <a:ext cx="2275155" cy="6324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User Authentication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Display transactions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"/>
          <p:cNvCxnSpPr>
            <a:stCxn id="70" idx="2"/>
            <a:endCxn id="55" idx="0"/>
          </p:cNvCxnSpPr>
          <p:nvPr/>
        </p:nvCxnSpPr>
        <p:spPr>
          <a:xfrm>
            <a:off x="4558900" y="1457800"/>
            <a:ext cx="13200" cy="105390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"/>
          <p:cNvSpPr txBox="1"/>
          <p:nvPr/>
        </p:nvSpPr>
        <p:spPr>
          <a:xfrm rot="5397703">
            <a:off x="4293301" y="1687750"/>
            <a:ext cx="13467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bank accounts and track income/expense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1"/>
          <p:cNvCxnSpPr>
            <a:endCxn id="55" idx="1"/>
          </p:cNvCxnSpPr>
          <p:nvPr/>
        </p:nvCxnSpPr>
        <p:spPr>
          <a:xfrm>
            <a:off x="1362150" y="1796750"/>
            <a:ext cx="2204100" cy="103770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" name="Google Shape;80;p1"/>
          <p:cNvSpPr txBox="1"/>
          <p:nvPr/>
        </p:nvSpPr>
        <p:spPr>
          <a:xfrm rot="1542708">
            <a:off x="1646656" y="1894729"/>
            <a:ext cx="1864953" cy="4386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Notified or alerted regarding to students’ accounts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1"/>
          <p:cNvCxnSpPr/>
          <p:nvPr/>
        </p:nvCxnSpPr>
        <p:spPr>
          <a:xfrm>
            <a:off x="4572000" y="3155113"/>
            <a:ext cx="0" cy="99960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82" name="Google Shape;82;p1"/>
          <p:cNvSpPr txBox="1"/>
          <p:nvPr/>
        </p:nvSpPr>
        <p:spPr>
          <a:xfrm rot="5402079">
            <a:off x="4493250" y="3380418"/>
            <a:ext cx="992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financial literacy documents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4028300" y="1768038"/>
            <a:ext cx="433500" cy="433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5732850" y="1672675"/>
            <a:ext cx="433500" cy="433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004375" y="3439288"/>
            <a:ext cx="433500" cy="433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677300" y="1152125"/>
            <a:ext cx="1710600" cy="4848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Tax Regulation Portal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"/>
          <p:cNvCxnSpPr>
            <a:stCxn id="86" idx="1"/>
            <a:endCxn id="55" idx="3"/>
          </p:cNvCxnSpPr>
          <p:nvPr/>
        </p:nvCxnSpPr>
        <p:spPr>
          <a:xfrm flipH="1">
            <a:off x="5577800" y="1394525"/>
            <a:ext cx="1099500" cy="144000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8" name="Google Shape;88;p1"/>
          <p:cNvSpPr txBox="1"/>
          <p:nvPr/>
        </p:nvSpPr>
        <p:spPr>
          <a:xfrm rot="-3173209">
            <a:off x="5752134" y="1819950"/>
            <a:ext cx="1413013" cy="3295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 latest tax regulations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745325" y="2355000"/>
            <a:ext cx="433500" cy="433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339550" y="2592050"/>
            <a:ext cx="1710600" cy="4848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Compliance Regulation Portal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"/>
          <p:cNvCxnSpPr>
            <a:stCxn id="90" idx="1"/>
            <a:endCxn id="55" idx="3"/>
          </p:cNvCxnSpPr>
          <p:nvPr/>
        </p:nvCxnSpPr>
        <p:spPr>
          <a:xfrm rot="10800000">
            <a:off x="5577650" y="2834450"/>
            <a:ext cx="1761900" cy="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"/>
          <p:cNvSpPr txBox="1"/>
          <p:nvPr/>
        </p:nvSpPr>
        <p:spPr>
          <a:xfrm rot="-730">
            <a:off x="5929852" y="2841073"/>
            <a:ext cx="14130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Update latest compliance regulation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1"/>
          <p:cNvCxnSpPr>
            <a:stCxn id="55" idx="3"/>
            <a:endCxn id="71" idx="1"/>
          </p:cNvCxnSpPr>
          <p:nvPr/>
        </p:nvCxnSpPr>
        <p:spPr>
          <a:xfrm>
            <a:off x="5577750" y="2834450"/>
            <a:ext cx="1377600" cy="1576500"/>
          </a:xfrm>
          <a:prstGeom prst="straightConnector1">
            <a:avLst/>
          </a:prstGeom>
          <a:noFill/>
          <a:ln cap="flat" cmpd="sng" w="28575">
            <a:solidFill>
              <a:srgbClr val="3C78D8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" name="Google Shape;94;p1"/>
          <p:cNvSpPr/>
          <p:nvPr/>
        </p:nvSpPr>
        <p:spPr>
          <a:xfrm>
            <a:off x="6517475" y="3506575"/>
            <a:ext cx="433500" cy="4335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 rot="2911200">
            <a:off x="5592937" y="3725726"/>
            <a:ext cx="1413132" cy="3536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service fees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2"/>
          <p:cNvGraphicFramePr/>
          <p:nvPr/>
        </p:nvGraphicFramePr>
        <p:xfrm>
          <a:off x="538963" y="6902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{7FAEF9D3-0257-47C9-9EE1-C4A7F4DB1533}</a:tableStyleId>
              </a:tblPr>
              <a:tblGrid>
                <a:gridCol w="624225"/>
                <a:gridCol w="1792575"/>
                <a:gridCol w="1093000"/>
                <a:gridCol w="938600"/>
                <a:gridCol w="985875"/>
                <a:gridCol w="2631800"/>
              </a:tblGrid>
              <a:tr h="45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</a:t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</a:tr>
              <a:tr h="56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 bank accounts and track income/expenses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Bank System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F1nance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allows bank accounts access.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 latest tax regulation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Tax Regulation Portal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F1nance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consents to providing work documents and tax filing status.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 latest compliance regulation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Compliance Regulation Portal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F1nance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consents to providing identity documents.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 service fees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 Gateway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F1nance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Amount to be charged needs to match with amount indicated in monthly service fees bill.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Confirm payment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F1nance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 Gateway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Logs, confirmation and reports of payment needs to be billed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Fetch financial literacy documents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Financial Literacy Content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F1nance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receives financial lectures from various sources.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2"/>
          <p:cNvSpPr txBox="1"/>
          <p:nvPr/>
        </p:nvSpPr>
        <p:spPr>
          <a:xfrm>
            <a:off x="540725" y="300725"/>
            <a:ext cx="3189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Interface Table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