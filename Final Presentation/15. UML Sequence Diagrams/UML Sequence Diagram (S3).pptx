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32"/>
  </p:normalViewPr>
  <p:slideViewPr>
    <p:cSldViewPr snapToGrid="0">
      <p:cViewPr varScale="1">
        <p:scale>
          <a:sx n="111" d="100"/>
          <a:sy n="111" d="100"/>
        </p:scale>
        <p:origin x="5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428D-698C-E2FB-E61D-71DB9D61A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DDAC4-9B4E-0686-F731-1FD5C0C2A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84F3C-6AAB-139F-F5DD-60B794264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43A6C-0122-05C4-5B50-66426243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D376-8A09-572D-A063-9781862D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8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F0953-0978-691B-5191-C2F12DB45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8FBB4-238C-0F64-9060-1FA15E9CC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E7BA5-1305-031C-63EC-9F89BA72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A7773-62F8-B064-EA63-C8D1AD0D7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2A3BE-287E-F639-EAA5-C1A1060B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29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5345-235C-1213-5444-E5AFFF726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772BC-87BF-0401-B332-9D8EEDC39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1F1EE-E4E5-119E-BB1D-A6A23D28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41C0B-A690-C8F7-C6A5-EE5E0434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2FBE3-B35B-5257-86CC-2E702C8C8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9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FFA1E-4625-1209-970F-BEBAF8858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E9E46-32E8-88BB-EA51-0491B2110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B11B7-501B-F5D7-8E08-AB8F4718B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54343-E2DF-C94E-9BB0-609A9969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ECAF4-F6D0-7707-3764-38B7F85F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8E3-B10B-D413-E0EE-6747C677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8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7D11-4C8D-4B52-6538-739766897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40C2D-5012-6413-7BBB-99163BBDC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FB918-289F-668E-C960-850B82A5D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5DF34-DA8E-EBCA-64FA-AE14D83EE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976C5-691F-DC33-76DC-295AF2FB4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A2438-81CF-D9D9-AE55-BFA88A4E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FD02C-1D42-503F-769C-B5E6DE2E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AED80-2554-17C7-5C09-09F86AB0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5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2D8A1-96B9-3F4B-D7BD-B94299D3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EADCA-E67F-4333-5485-20BA22AE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919F3-AA50-E29B-777F-506242BC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9C870-62C1-220D-8C7E-639D777E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EAA7AF-F8A9-BA29-B148-A52675CC1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04F62-E44A-02C0-D101-2C6BF6A2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D7C92-BBA9-50E1-7400-1852BCAA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6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23289-C8A6-DC7C-187A-81415A96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A3374-90DB-4283-1C35-3FC002BA2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37258-C54E-CAE2-5DDB-A96900C3F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D4DE7-DDF1-A9CB-82F3-9860D4DA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A8A79-0A2D-445F-CB5B-E21B5841A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B9AB2-675E-024B-FFE6-AD4C26F1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9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1AE2F-7452-B803-DF6B-730AD655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BF503C-6752-00E1-9C58-11491BFF95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60AB4-1146-90AC-87FE-73676D16B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F45E7-DDFF-449D-B7C7-EA8C15D3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E1FFA-0993-4995-6440-0F84C185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9D140-117E-0777-D9B1-7B402D50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28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68784-7BB4-DD6E-B721-561ADD6E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4BB59-38BE-B25B-0019-1215FBD53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E4D0A-16BE-0861-6252-AD0E51D4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189F0-F528-9A06-7862-72EBD074F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1991F-97BE-7B71-F0A5-AD8AAE5D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5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47B4A5-56C1-2F45-DA5E-789887444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66A5D-CB66-EB16-3864-D801A0D03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22C6A-C2B2-3364-6B98-5DE0DBE7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70368-2312-D285-E3A7-6124130F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7B76D-F638-6802-81BF-77116358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3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3C83AB-D5D6-812A-4A5F-AC21E09F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B5E67-A18A-2BEF-D2CE-554BB9F10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F9645-4C9C-BFD2-7FE7-B66102D91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66F37-F795-5B4B-903E-52C528E28CB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15158-18A6-42EC-B74A-061473DD0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88500-D85B-F2F5-67A1-AB1FE9E0E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CD1D1-90A7-E34D-8BE7-6E3644F9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4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17F1-C2F6-EF7B-4BC1-BAE7E22A60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F1nance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86227-1B68-E333-F1CB-C472C079FF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UML 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4033504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3C847-FC52-82B5-721C-D9D2EBDD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F1nance UML Sequence Diagram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BA07A-6828-DA12-D508-6EDDBFE09BA9}"/>
              </a:ext>
            </a:extLst>
          </p:cNvPr>
          <p:cNvSpPr txBox="1"/>
          <p:nvPr/>
        </p:nvSpPr>
        <p:spPr>
          <a:xfrm>
            <a:off x="8189260" y="2017060"/>
            <a:ext cx="400274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 Case Scenario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user opens the transaction view and calls </a:t>
            </a:r>
            <a:r>
              <a:rPr lang="en-US" sz="1600" dirty="0" err="1"/>
              <a:t>viewSummary</a:t>
            </a:r>
            <a:r>
              <a:rPr lang="en-US" sz="1600" dirty="0"/>
              <a:t>() to see recent movements for a chosen account.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From there, the system uses the Transaction object to contact Currency Trace and call </a:t>
            </a:r>
            <a:r>
              <a:rPr lang="en-US" sz="1600" dirty="0" err="1"/>
              <a:t>traceExchangeRate</a:t>
            </a:r>
            <a:r>
              <a:rPr lang="en-US" sz="1600" dirty="0"/>
              <a:t>() so that it can determine how the currency value has changed over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live data is not ideal, the system then calls </a:t>
            </a:r>
            <a:r>
              <a:rPr lang="en-US" sz="1600" dirty="0" err="1"/>
              <a:t>failbackCachedRate</a:t>
            </a:r>
            <a:r>
              <a:rPr lang="en-US" sz="1600" dirty="0"/>
              <a:t>() to retrieve a stored rate for comparison. Finally, the user sees a summary that combines the transaction list with the traced exchange rate information.</a:t>
            </a:r>
          </a:p>
        </p:txBody>
      </p:sp>
      <p:pic>
        <p:nvPicPr>
          <p:cNvPr id="7" name="Content Placeholder 6" descr="A diagram of a currency&#10;&#10;AI-generated content may be incorrect.">
            <a:extLst>
              <a:ext uri="{FF2B5EF4-FFF2-40B4-BE49-F238E27FC236}">
                <a16:creationId xmlns:a16="http://schemas.microsoft.com/office/drawing/2014/main" id="{F675C21B-C4B9-8ED7-FFAC-4B08C384C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2017060"/>
            <a:ext cx="6186713" cy="4351338"/>
          </a:xfrm>
        </p:spPr>
      </p:pic>
    </p:spTree>
    <p:extLst>
      <p:ext uri="{BB962C8B-B14F-4D97-AF65-F5344CB8AC3E}">
        <p14:creationId xmlns:p14="http://schemas.microsoft.com/office/powerpoint/2010/main" val="386068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95D36-BD5F-6729-3294-C489E6E0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F1nance UML Sequence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06EA8B-27BC-340D-BDBB-AFA00E668E38}"/>
              </a:ext>
            </a:extLst>
          </p:cNvPr>
          <p:cNvSpPr txBox="1"/>
          <p:nvPr/>
        </p:nvSpPr>
        <p:spPr>
          <a:xfrm>
            <a:off x="7893935" y="2151529"/>
            <a:ext cx="429806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Use Case Scenario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user starts a financial literacy lesson, which triggers </a:t>
            </a:r>
            <a:r>
              <a:rPr lang="en-US" sz="1600" dirty="0" err="1"/>
              <a:t>startLesson</a:t>
            </a:r>
            <a:r>
              <a:rPr lang="en-US" sz="1600" dirty="0"/>
              <a:t>() on the Financial Literacy Lesson object and </a:t>
            </a:r>
            <a:r>
              <a:rPr lang="en-US" sz="1600" dirty="0" err="1"/>
              <a:t>startEngagement</a:t>
            </a:r>
            <a:r>
              <a:rPr lang="en-US" sz="1600" dirty="0"/>
              <a:t>() on Engagement to begin tracking activity.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While the lesson is in progress, the user’s actions cause </a:t>
            </a:r>
            <a:r>
              <a:rPr lang="en-US" sz="1600" dirty="0" err="1"/>
              <a:t>updateProgress</a:t>
            </a:r>
            <a:r>
              <a:rPr lang="en-US" sz="1600" dirty="0"/>
              <a:t>() to be called so time spent and progress are recorded.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When the user finishes, </a:t>
            </a:r>
            <a:r>
              <a:rPr lang="en-US" sz="1600" dirty="0" err="1"/>
              <a:t>completeLesson</a:t>
            </a:r>
            <a:r>
              <a:rPr lang="en-US" sz="1600" dirty="0"/>
              <a:t>() is called and </a:t>
            </a:r>
            <a:r>
              <a:rPr lang="en-US" sz="1600" dirty="0" err="1"/>
              <a:t>endEngagement</a:t>
            </a:r>
            <a:r>
              <a:rPr lang="en-US" sz="1600" dirty="0"/>
              <a:t>() closes the engagement session.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Based on the recorded data, Engagement decides whether to call </a:t>
            </a:r>
            <a:r>
              <a:rPr lang="en-US" sz="1600" dirty="0" err="1"/>
              <a:t>sendNotification</a:t>
            </a:r>
            <a:r>
              <a:rPr lang="en-US" sz="1600" dirty="0"/>
              <a:t>() on Notification, so that the user can be reminded, encouraged, or informed about their learning activity.</a:t>
            </a:r>
          </a:p>
          <a:p>
            <a:pPr algn="ctr"/>
            <a:endParaRPr lang="en-US" b="1" dirty="0"/>
          </a:p>
        </p:txBody>
      </p:sp>
      <p:pic>
        <p:nvPicPr>
          <p:cNvPr id="8" name="Content Placeholder 7" descr="A diagram of a diagram&#10;&#10;AI-generated content may be incorrect.">
            <a:extLst>
              <a:ext uri="{FF2B5EF4-FFF2-40B4-BE49-F238E27FC236}">
                <a16:creationId xmlns:a16="http://schemas.microsoft.com/office/drawing/2014/main" id="{879A1EF0-E18A-6DA4-A6E8-3BE1D0A51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971" y="1690688"/>
            <a:ext cx="7097486" cy="4351338"/>
          </a:xfrm>
        </p:spPr>
      </p:pic>
    </p:spTree>
    <p:extLst>
      <p:ext uri="{BB962C8B-B14F-4D97-AF65-F5344CB8AC3E}">
        <p14:creationId xmlns:p14="http://schemas.microsoft.com/office/powerpoint/2010/main" val="95529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ABC5-BB91-34F6-AA16-9004589D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F1nance UML Sequence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6A19A4-186D-44CD-7D58-E42DA07A738E}"/>
              </a:ext>
            </a:extLst>
          </p:cNvPr>
          <p:cNvSpPr txBox="1"/>
          <p:nvPr/>
        </p:nvSpPr>
        <p:spPr>
          <a:xfrm>
            <a:off x="7947212" y="2043952"/>
            <a:ext cx="424478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 Case Scenario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user uploads a supporting file such as an ID or statement, which calls </a:t>
            </a:r>
            <a:r>
              <a:rPr lang="en-US" sz="1600" dirty="0" err="1"/>
              <a:t>uploadDocument</a:t>
            </a:r>
            <a:r>
              <a:rPr lang="en-US" sz="1600" dirty="0"/>
              <a:t>() on Document and stores the file for later checks.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When the user fills in a tax-related form, the system sends the submission through </a:t>
            </a:r>
            <a:r>
              <a:rPr lang="en-US" sz="1600" dirty="0" err="1"/>
              <a:t>submitForm</a:t>
            </a:r>
            <a:r>
              <a:rPr lang="en-US" sz="1600" dirty="0"/>
              <a:t>() on </a:t>
            </a:r>
            <a:r>
              <a:rPr lang="en-US" sz="1600" dirty="0" err="1"/>
              <a:t>TaxForm</a:t>
            </a:r>
            <a:r>
              <a:rPr lang="en-US" sz="1600" dirty="0"/>
              <a:t>, which internally runs </a:t>
            </a:r>
            <a:r>
              <a:rPr lang="en-US" sz="1600" dirty="0" err="1"/>
              <a:t>validateForm</a:t>
            </a:r>
            <a:r>
              <a:rPr lang="en-US" sz="1600" dirty="0"/>
              <a:t>() to make sure the details are correct.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After validation, the form data is sent to </a:t>
            </a:r>
            <a:r>
              <a:rPr lang="en-US" sz="1600" dirty="0" err="1"/>
              <a:t>ComplianceUpdates</a:t>
            </a:r>
            <a:r>
              <a:rPr lang="en-US" sz="1600" dirty="0"/>
              <a:t> via </a:t>
            </a:r>
            <a:r>
              <a:rPr lang="en-US" sz="1600" dirty="0" err="1"/>
              <a:t>checkCompliance</a:t>
            </a:r>
            <a:r>
              <a:rPr lang="en-US" sz="1600" dirty="0"/>
              <a:t>() to confirm that current regulations are being followed.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Later, the user can call </a:t>
            </a:r>
            <a:r>
              <a:rPr lang="en-US" sz="1600" dirty="0" err="1"/>
              <a:t>verifyDocument</a:t>
            </a:r>
            <a:r>
              <a:rPr lang="en-US" sz="1600" dirty="0"/>
              <a:t>() so that the system confirms the status of the uploaded document and report</a:t>
            </a:r>
            <a:r>
              <a:rPr lang="en-US" dirty="0"/>
              <a:t>s the result back.</a:t>
            </a:r>
          </a:p>
        </p:txBody>
      </p:sp>
      <p:pic>
        <p:nvPicPr>
          <p:cNvPr id="8" name="Content Placeholder 7" descr="A diagram of a document&#10;&#10;AI-generated content may be incorrect.">
            <a:extLst>
              <a:ext uri="{FF2B5EF4-FFF2-40B4-BE49-F238E27FC236}">
                <a16:creationId xmlns:a16="http://schemas.microsoft.com/office/drawing/2014/main" id="{F3066F84-B8CA-21EF-F40B-393477E6F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794829" cy="4351338"/>
          </a:xfrm>
        </p:spPr>
      </p:pic>
    </p:spTree>
    <p:extLst>
      <p:ext uri="{BB962C8B-B14F-4D97-AF65-F5344CB8AC3E}">
        <p14:creationId xmlns:p14="http://schemas.microsoft.com/office/powerpoint/2010/main" val="193998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BF1A-1EEF-5BC4-5AB2-EA5D9B66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F1nance UML Sequence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C6E71-7283-25B3-5E16-214C96331E16}"/>
              </a:ext>
            </a:extLst>
          </p:cNvPr>
          <p:cNvSpPr txBox="1"/>
          <p:nvPr/>
        </p:nvSpPr>
        <p:spPr>
          <a:xfrm>
            <a:off x="6938682" y="2111189"/>
            <a:ext cx="510988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 Case Scenario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user, acting as a compliance officer, wants to confirm that the </a:t>
            </a:r>
            <a:r>
              <a:rPr lang="en-US" sz="1600" dirty="0" err="1"/>
              <a:t>organisation</a:t>
            </a:r>
            <a:r>
              <a:rPr lang="en-US" sz="1600" dirty="0"/>
              <a:t> is still aligned with the latest rules.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They trigger </a:t>
            </a:r>
            <a:r>
              <a:rPr lang="en-US" sz="1600" dirty="0" err="1"/>
              <a:t>checkCompliance</a:t>
            </a:r>
            <a:r>
              <a:rPr lang="en-US" sz="1600" dirty="0"/>
              <a:t>() on </a:t>
            </a:r>
            <a:r>
              <a:rPr lang="en-US" sz="1600" dirty="0" err="1"/>
              <a:t>ComplianceUpdates</a:t>
            </a:r>
            <a:r>
              <a:rPr lang="en-US" sz="1600" dirty="0"/>
              <a:t>, which reviews stored policies, tax forms, and related data to produce an updated compliance status.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Once the review is complete, the officer uses </a:t>
            </a:r>
            <a:r>
              <a:rPr lang="en-US" sz="1600" dirty="0" err="1"/>
              <a:t>sendNotification</a:t>
            </a:r>
            <a:r>
              <a:rPr lang="en-US" sz="1600" dirty="0"/>
              <a:t>() on Notification so that all affected users or internal staff are informed about any important policy or compliance updates they need to know.</a:t>
            </a:r>
          </a:p>
        </p:txBody>
      </p:sp>
      <p:pic>
        <p:nvPicPr>
          <p:cNvPr id="8" name="Content Placeholder 7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5E189C54-A5A1-BCF4-3926-D4E2066EA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572" y="1825625"/>
            <a:ext cx="5515428" cy="4351338"/>
          </a:xfrm>
        </p:spPr>
      </p:pic>
    </p:spTree>
    <p:extLst>
      <p:ext uri="{BB962C8B-B14F-4D97-AF65-F5344CB8AC3E}">
        <p14:creationId xmlns:p14="http://schemas.microsoft.com/office/powerpoint/2010/main" val="262833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FE2D-A552-9CAC-6F1A-F018DF8B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F1nance UML Sequence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FF32B-C2E7-908D-FA69-DA4F94BF8B35}"/>
              </a:ext>
            </a:extLst>
          </p:cNvPr>
          <p:cNvSpPr txBox="1"/>
          <p:nvPr/>
        </p:nvSpPr>
        <p:spPr>
          <a:xfrm>
            <a:off x="7167282" y="2124635"/>
            <a:ext cx="431650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 Case Scenario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user wants a summary of recent financial or compliance activity, so they call </a:t>
            </a:r>
            <a:r>
              <a:rPr lang="en-US" sz="1600" dirty="0" err="1"/>
              <a:t>generateReport</a:t>
            </a:r>
            <a:r>
              <a:rPr lang="en-US" sz="1600" dirty="0"/>
              <a:t>() on the Report object.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system gathers underlying data (transactions, engagements, or compliance checks) and builds a report view for the user to read on screen.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When the user is satisfied and wants an offline copy, they call </a:t>
            </a:r>
            <a:r>
              <a:rPr lang="en-US" sz="1600" dirty="0" err="1"/>
              <a:t>exportReport</a:t>
            </a:r>
            <a:r>
              <a:rPr lang="en-US" sz="1600" dirty="0"/>
              <a:t>(), and the system produces an exported file  that the user can download or share</a:t>
            </a:r>
            <a:r>
              <a:rPr lang="en-US" dirty="0"/>
              <a:t>.</a:t>
            </a:r>
          </a:p>
        </p:txBody>
      </p:sp>
      <p:pic>
        <p:nvPicPr>
          <p:cNvPr id="8" name="Content Placeholder 7" descr="A diagram of a report&#10;&#10;AI-generated content may be incorrect.">
            <a:extLst>
              <a:ext uri="{FF2B5EF4-FFF2-40B4-BE49-F238E27FC236}">
                <a16:creationId xmlns:a16="http://schemas.microsoft.com/office/drawing/2014/main" id="{245EB20D-F0D1-DCD9-74EB-ECB591ED5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058" y="1825625"/>
            <a:ext cx="4659085" cy="4351338"/>
          </a:xfrm>
        </p:spPr>
      </p:pic>
    </p:spTree>
    <p:extLst>
      <p:ext uri="{BB962C8B-B14F-4D97-AF65-F5344CB8AC3E}">
        <p14:creationId xmlns:p14="http://schemas.microsoft.com/office/powerpoint/2010/main" val="66748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069A-7CC2-5381-FEC0-BD44FD66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F1nance UML Sequence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49685-5592-D91C-74AA-BB815130F13A}"/>
              </a:ext>
            </a:extLst>
          </p:cNvPr>
          <p:cNvSpPr txBox="1"/>
          <p:nvPr/>
        </p:nvSpPr>
        <p:spPr>
          <a:xfrm>
            <a:off x="7100049" y="2413180"/>
            <a:ext cx="467957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 Case Scenario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user reviews their current subscription in the app and decides to move to a higher plan, which triggers </a:t>
            </a:r>
            <a:r>
              <a:rPr lang="en-US" sz="1600" dirty="0" err="1"/>
              <a:t>upgradePlan</a:t>
            </a:r>
            <a:r>
              <a:rPr lang="en-US" sz="1600" dirty="0"/>
              <a:t>() on Subscription.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 pay for this change, the user calls </a:t>
            </a:r>
            <a:r>
              <a:rPr lang="en-US" sz="1600" dirty="0" err="1"/>
              <a:t>processPayment</a:t>
            </a:r>
            <a:r>
              <a:rPr lang="en-US" sz="1600" dirty="0"/>
              <a:t>() on Payment, and once that succeeds the subscription details are updated.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later the user decides not to continue, they use </a:t>
            </a:r>
            <a:r>
              <a:rPr lang="en-US" sz="1600" dirty="0" err="1"/>
              <a:t>cancelPlan</a:t>
            </a:r>
            <a:r>
              <a:rPr lang="en-US" sz="1600" dirty="0"/>
              <a:t>() on Subscription, and, if needed, call </a:t>
            </a:r>
            <a:r>
              <a:rPr lang="en-US" sz="1600" dirty="0" err="1"/>
              <a:t>refundPayment</a:t>
            </a:r>
            <a:r>
              <a:rPr lang="en-US" sz="1600" dirty="0"/>
              <a:t>() on Payment to request a refund according to the rules.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Throughout these actions, </a:t>
            </a:r>
            <a:r>
              <a:rPr lang="en-US" sz="1600" dirty="0" err="1"/>
              <a:t>sendNotification</a:t>
            </a:r>
            <a:r>
              <a:rPr lang="en-US" sz="1600" dirty="0"/>
              <a:t>() on Notification is used to inform the user about successful upgrades, cancellations, or refunds.</a:t>
            </a:r>
          </a:p>
          <a:p>
            <a:pPr algn="ctr"/>
            <a:endParaRPr lang="en-US" dirty="0"/>
          </a:p>
        </p:txBody>
      </p:sp>
      <p:pic>
        <p:nvPicPr>
          <p:cNvPr id="8" name="Content Placeholder 7" descr="A diagram of a diagram&#10;&#10;AI-generated content may be incorrect.">
            <a:extLst>
              <a:ext uri="{FF2B5EF4-FFF2-40B4-BE49-F238E27FC236}">
                <a16:creationId xmlns:a16="http://schemas.microsoft.com/office/drawing/2014/main" id="{20CC2F0F-2E82-483A-208A-66B4FB9C2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087" y="1825625"/>
            <a:ext cx="5500914" cy="4351338"/>
          </a:xfrm>
        </p:spPr>
      </p:pic>
    </p:spTree>
    <p:extLst>
      <p:ext uri="{BB962C8B-B14F-4D97-AF65-F5344CB8AC3E}">
        <p14:creationId xmlns:p14="http://schemas.microsoft.com/office/powerpoint/2010/main" val="4035490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8EDB-ABD3-1815-F1E4-80144443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F1nance UML Sequence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522C4-C090-4CEC-ED4D-3F0CD63529BF}"/>
              </a:ext>
            </a:extLst>
          </p:cNvPr>
          <p:cNvSpPr txBox="1"/>
          <p:nvPr/>
        </p:nvSpPr>
        <p:spPr>
          <a:xfrm>
            <a:off x="6710083" y="2084294"/>
            <a:ext cx="43434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 Case Scenario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user pays a bill or subscription fee by calling </a:t>
            </a:r>
            <a:r>
              <a:rPr lang="en-US" sz="1600" dirty="0" err="1"/>
              <a:t>processPayment</a:t>
            </a:r>
            <a:r>
              <a:rPr lang="en-US" sz="1600" dirty="0"/>
              <a:t>() on the Payment object.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 part of this, the system records the financial movement by sending </a:t>
            </a:r>
            <a:r>
              <a:rPr lang="en-US" sz="1600" dirty="0" err="1"/>
              <a:t>addTransaction</a:t>
            </a:r>
            <a:r>
              <a:rPr lang="en-US" sz="1600" dirty="0"/>
              <a:t>() to Transaction and then adjusts the account’s money with </a:t>
            </a:r>
            <a:r>
              <a:rPr lang="en-US" sz="1600" dirty="0" err="1"/>
              <a:t>updateBalance</a:t>
            </a:r>
            <a:r>
              <a:rPr lang="en-US" sz="1600" dirty="0"/>
              <a:t>() on Account.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If something goes wrong or a refund is required, the user triggers </a:t>
            </a:r>
            <a:r>
              <a:rPr lang="en-US" sz="1600" dirty="0" err="1"/>
              <a:t>refundPayment</a:t>
            </a:r>
            <a:r>
              <a:rPr lang="en-US" sz="1600" dirty="0"/>
              <a:t>()on Payment, which again calls </a:t>
            </a:r>
            <a:r>
              <a:rPr lang="en-US" sz="1600" dirty="0" err="1"/>
              <a:t>updateBalance</a:t>
            </a:r>
            <a:r>
              <a:rPr lang="en-US" sz="1600" dirty="0"/>
              <a:t>() on Account to reverse or correct the amount.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user then sees the final payment and refund status reflected in their account</a:t>
            </a:r>
            <a:r>
              <a:rPr lang="en-US" dirty="0"/>
              <a:t>.</a:t>
            </a:r>
          </a:p>
          <a:p>
            <a:pPr algn="ctr"/>
            <a:endParaRPr lang="en-US" dirty="0"/>
          </a:p>
        </p:txBody>
      </p:sp>
      <p:pic>
        <p:nvPicPr>
          <p:cNvPr id="8" name="Content Placeholder 7" descr="A diagram of a payment process&#10;&#10;AI-generated content may be incorrect.">
            <a:extLst>
              <a:ext uri="{FF2B5EF4-FFF2-40B4-BE49-F238E27FC236}">
                <a16:creationId xmlns:a16="http://schemas.microsoft.com/office/drawing/2014/main" id="{93D2A6B5-F7F5-D1B3-23D5-042C61C0E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030" y="1825625"/>
            <a:ext cx="5791199" cy="4351338"/>
          </a:xfrm>
        </p:spPr>
      </p:pic>
    </p:spTree>
    <p:extLst>
      <p:ext uri="{BB962C8B-B14F-4D97-AF65-F5344CB8AC3E}">
        <p14:creationId xmlns:p14="http://schemas.microsoft.com/office/powerpoint/2010/main" val="88287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CEE2-284F-A200-2959-385D25BD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F1nance UML Sequence Diagram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A9481-5963-187C-B227-5845EA8A0D80}"/>
              </a:ext>
            </a:extLst>
          </p:cNvPr>
          <p:cNvSpPr txBox="1"/>
          <p:nvPr/>
        </p:nvSpPr>
        <p:spPr>
          <a:xfrm>
            <a:off x="7303626" y="2152721"/>
            <a:ext cx="451821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 Case Scenario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When the user has a problem or question, they open the support area and call </a:t>
            </a:r>
            <a:r>
              <a:rPr lang="en-US" sz="1600" dirty="0" err="1"/>
              <a:t>createRequest</a:t>
            </a:r>
            <a:r>
              <a:rPr lang="en-US" sz="1600" dirty="0"/>
              <a:t>() on User Request, which creates a new ticket with the details of their issue.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Over time, the user can return to the app and use </a:t>
            </a:r>
            <a:r>
              <a:rPr lang="en-US" sz="1600" dirty="0" err="1"/>
              <a:t>trackRequest</a:t>
            </a:r>
            <a:r>
              <a:rPr lang="en-US" sz="1600" dirty="0"/>
              <a:t>() to see how that ticket is progressing or whether staff have added any responses.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When the request is created or updated, the system calls </a:t>
            </a:r>
            <a:r>
              <a:rPr lang="en-US" sz="1600" dirty="0" err="1"/>
              <a:t>sendNotification</a:t>
            </a:r>
            <a:r>
              <a:rPr lang="en-US" sz="1600" dirty="0"/>
              <a:t>() on Notification, so that either the support team or the user is informed about new activity on the request.</a:t>
            </a:r>
          </a:p>
          <a:p>
            <a:endParaRPr lang="en-US" dirty="0"/>
          </a:p>
        </p:txBody>
      </p:sp>
      <p:pic>
        <p:nvPicPr>
          <p:cNvPr id="7" name="Content Placeholder 6" descr="A diagram of a user request&#10;&#10;AI-generated content may be incorrect.">
            <a:extLst>
              <a:ext uri="{FF2B5EF4-FFF2-40B4-BE49-F238E27FC236}">
                <a16:creationId xmlns:a16="http://schemas.microsoft.com/office/drawing/2014/main" id="{E9DC54DD-F072-63B6-C851-937AEB385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458" y="1825625"/>
            <a:ext cx="4815069" cy="4351338"/>
          </a:xfrm>
        </p:spPr>
      </p:pic>
    </p:spTree>
    <p:extLst>
      <p:ext uri="{BB962C8B-B14F-4D97-AF65-F5344CB8AC3E}">
        <p14:creationId xmlns:p14="http://schemas.microsoft.com/office/powerpoint/2010/main" val="32839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819</Words>
  <Application>Microsoft Macintosh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F1nance</vt:lpstr>
      <vt:lpstr>F1nance UML Sequence Diagram</vt:lpstr>
      <vt:lpstr>F1nance UML Sequence Diagram</vt:lpstr>
      <vt:lpstr>F1nance UML Sequence Diagram</vt:lpstr>
      <vt:lpstr>F1nance UML Sequence Diagram</vt:lpstr>
      <vt:lpstr>F1nance UML Sequence Diagram</vt:lpstr>
      <vt:lpstr>F1nance UML Sequence Diagram</vt:lpstr>
      <vt:lpstr>F1nance UML Sequence Diagram</vt:lpstr>
      <vt:lpstr>F1nance UML Sequence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Chothani, Deep Vallabhabhai</dc:creator>
  <cp:lastModifiedBy>Chothani, Deep Vallabhabhai</cp:lastModifiedBy>
  <cp:revision>3</cp:revision>
  <dcterms:created xsi:type="dcterms:W3CDTF">2025-11-27T20:19:36Z</dcterms:created>
  <dcterms:modified xsi:type="dcterms:W3CDTF">2025-12-05T07:21:38Z</dcterms:modified>
</cp:coreProperties>
</file>