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79"/>
    <p:restoredTop sz="94632"/>
  </p:normalViewPr>
  <p:slideViewPr>
    <p:cSldViewPr snapToGrid="0">
      <p:cViewPr varScale="1">
        <p:scale>
          <a:sx n="101" d="100"/>
          <a:sy n="101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4A85-5135-179E-5C5C-E0C5E2E63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9BD47-BE47-0163-CB2A-B272BFF8B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BBAF-0ECF-8A7A-C536-BB2275C9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D1F44-62C5-6E1D-A633-051C5368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A8E8-C7D3-82EE-9FD0-EF88CEA0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9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1A1C-0CF3-9359-4A00-02C010A2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686AA-126B-DC5C-778D-E04FDA8E9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37A6F-65AC-27EC-2D6B-2BAEEB13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A94D8-DF17-FECD-264F-8D56D958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77B0A-F8FA-4434-42FE-FD7E19C0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6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5F2B-DAA8-34E3-CF01-058FAB2E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A9109-B47A-6687-FEF4-8B647302F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0B017-FD59-B5B0-FC7F-894ED275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1C048-F8FC-A218-9813-0AD42926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55C65-FE68-9E68-6317-12C8EF99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9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ACA8-00BD-4B20-6C83-47DFD4C8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9B316-BA19-8870-CE11-534FD6D54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1EF63-5639-AFA4-BDFD-1FC153017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C86D-70A5-940D-0A11-0190B315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70919-084B-8ACD-51DA-8CD4BDE5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F5F8A-F7EE-C7CF-0B45-8814AA47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8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399A-F761-070B-F624-E1250554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CCA9F-89AA-F5B5-C99B-E7C5974D4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293BB-E190-A12A-BBF3-890C7B314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CD33C-1D15-F028-E0F9-C7AD2200F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03622-2F45-E5EF-6881-6566AD9CD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196DF-C9D8-99B5-1677-03ED1986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8C7E4-0CC3-A08C-E73F-32831C4A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19463-1F4B-1424-0490-B85CEC3F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6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64BD-1C6C-69C8-B98E-45B3E7F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BB39E-057B-DEDD-7273-D2B10637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8D2DE-613D-D694-285E-8C5E255A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ECB54-28B8-B2C6-8BD9-B7EFACDA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93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3348F-845B-89B5-68D7-C1ECAC26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B7ABC-602B-9596-5BA3-BE57429D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AD9E4-BFBE-09D4-3CDF-8BEBAE67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81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98DF-B8C5-1C24-B14E-FCCA05D3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A9936-20A3-7D93-67CA-69C6C1AB9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85B0B-12E7-1AFA-F46F-84A70FAF7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E8A84-9434-C620-9955-B2410B4E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87723-FBB3-F941-3941-239CF316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5BCB1-F4C2-C4A2-2D2B-604D966B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3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F4B8-B3DD-3F7C-04E9-940800F6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C6ACB-C280-5ED5-FA7E-CA8B3BD16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9B518-59E4-C64F-F26C-4627DD6DE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9751F-CBC4-4455-4C4F-9DF2532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8D1B9-E253-8FF0-6112-012E744E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B8CC-6248-BEB0-E592-E96F7A1F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1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D739-5308-C139-2295-86E96147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7759B-6B61-19F6-7F62-C669EFF88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099C4-641D-A545-E54C-5F42C1F1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6D67-41F1-D81E-1A4A-B7650C00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4949A-6F94-AFF3-906E-0F531EA8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86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6FE6E-D075-2B2C-B545-D8CE3ACCF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FF07C-2C25-CD5F-0A75-84D6EEAF1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272AB-2158-6CC2-0717-2C8CECA5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DA974-0952-E36F-ECAB-B022271D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CCBB7-273C-5B80-CAA4-B743FAF6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5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8E6CF-9BBA-426B-F454-346AD8C1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909CD-318C-F397-A0E5-6F82BE660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87206-2063-3EE2-928A-D318848FC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3B118-CE0C-154F-9342-FA2C2A31F395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4991-904F-8A56-2B7A-67B8DB42A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8A4C-A5BE-81CA-51F8-0F92E54CA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4D851-89C7-7D45-8274-29110E489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57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1606-C863-5037-DE87-440F2E735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F1nance ER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5DF77-E4C8-948B-6478-000FEE73B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8E379-F6FE-2DD2-2DA9-74713C19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51751"/>
            <a:ext cx="11210925" cy="7365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F1nance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 Of Entities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A0E410-CDDA-674A-6805-E6320AAB6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253852"/>
              </p:ext>
            </p:extLst>
          </p:nvPr>
        </p:nvGraphicFramePr>
        <p:xfrm>
          <a:off x="1524001" y="1388302"/>
          <a:ext cx="9347199" cy="5247458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2236162">
                  <a:extLst>
                    <a:ext uri="{9D8B030D-6E8A-4147-A177-3AD203B41FA5}">
                      <a16:colId xmlns:a16="http://schemas.microsoft.com/office/drawing/2014/main" val="3123678026"/>
                    </a:ext>
                  </a:extLst>
                </a:gridCol>
                <a:gridCol w="7111037">
                  <a:extLst>
                    <a:ext uri="{9D8B030D-6E8A-4147-A177-3AD203B41FA5}">
                      <a16:colId xmlns:a16="http://schemas.microsoft.com/office/drawing/2014/main" val="1315608284"/>
                    </a:ext>
                  </a:extLst>
                </a:gridCol>
              </a:tblGrid>
              <a:tr h="382506">
                <a:tc>
                  <a:txBody>
                    <a:bodyPr/>
                    <a:lstStyle/>
                    <a:p>
                      <a:r>
                        <a:rPr lang="en-US" sz="1400" b="1" cap="all" spc="60" dirty="0">
                          <a:solidFill>
                            <a:schemeClr val="tx1"/>
                          </a:solidFill>
                        </a:rPr>
                        <a:t>Entity Name</a:t>
                      </a:r>
                    </a:p>
                  </a:txBody>
                  <a:tcPr marL="159954" marR="159954" marT="159954" marB="1599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all" spc="60" dirty="0">
                          <a:solidFill>
                            <a:schemeClr val="tx1"/>
                          </a:solidFill>
                        </a:rPr>
                        <a:t>Entity Primary Attributes</a:t>
                      </a:r>
                    </a:p>
                  </a:txBody>
                  <a:tcPr marL="159954" marR="159954" marT="159954" marB="1599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98289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Users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Name, Email, Visa Status, Education Details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838049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Bank Account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BankAccountId, Bank Name, Account Number, Linked Date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022256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Transaction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BankAccountId, TransactionId, Amount, Date, Category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31142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Document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DocumentId, Document Type, File Name, Upload Date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228835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Notification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NotificationId, Type, Message, Due Date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17778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Subscription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UserId, SubscriptionId, Plan, Status, Start Date, End Date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527720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Compliance Policy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PolicyId, Name, Effective Date, Description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48374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TaxForm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TaxformId, UserId, FormType, Taxyear</a:t>
                      </a:r>
                    </a:p>
                  </a:txBody>
                  <a:tcPr marL="87282" marR="87282" marT="43641" marB="1066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885230"/>
                  </a:ext>
                </a:extLst>
              </a:tr>
              <a:tr h="253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Currency Trace 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TraceId, UserId, CurrencyCode, Amount, ConvertedAmount, Rate, TraceDate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49120"/>
                  </a:ext>
                </a:extLst>
              </a:tr>
              <a:tr h="253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Engagement 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EngagementId, UserId, LessonId, LastAccessed, TotalTimeSpent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930848"/>
                  </a:ext>
                </a:extLst>
              </a:tr>
              <a:tr h="253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 Report 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ReportId, UserId, ReportType, GeneratedDate, FilePath, Status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65910"/>
                  </a:ext>
                </a:extLst>
              </a:tr>
              <a:tr h="253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 User Request 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RequestId, UserId, Category, Message, Status, CreatedDate, ResolvedDate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91200"/>
                  </a:ext>
                </a:extLst>
              </a:tr>
              <a:tr h="410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Payment</a:t>
                      </a: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</a:rPr>
                        <a:t>PaymentId, UserId, SubscriptionId, Amount, PaymentMethod, PaymentDate, PaymentStatus</a:t>
                      </a: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18523"/>
                  </a:ext>
                </a:extLst>
              </a:tr>
              <a:tr h="22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Financial Literacy Lesson</a:t>
                      </a: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</a:rPr>
                        <a:t>LessonId, Title, Topic, ResourcePath, Description, Content</a:t>
                      </a:r>
                    </a:p>
                  </a:txBody>
                  <a:tcPr marL="50711" marR="50711" marT="25355" marB="25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8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58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F16EE-D3BD-2D7B-8A47-0A393CF4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F1nance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Conceptual ER Diagram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CAA696-9260-F4C3-DC14-9CBC4CBA9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97791" y="1891127"/>
            <a:ext cx="10169236" cy="45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8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5570F-4076-AB08-7B45-7806484A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F1nance</a:t>
            </a:r>
            <a:br>
              <a:rPr lang="en-US" sz="15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Logical ER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3403CF-805B-8B54-9B31-B5BDAF320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15637" y="1683512"/>
            <a:ext cx="10295906" cy="45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5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</TotalTime>
  <Words>199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F1nance ER Diagram</vt:lpstr>
      <vt:lpstr>F1nance List Of Entities</vt:lpstr>
      <vt:lpstr>F1nance Conceptual ER Diagram</vt:lpstr>
      <vt:lpstr>F1nance Logical 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Chothani, Deep Vallabhabhai</dc:creator>
  <cp:lastModifiedBy>Chothani, Deep Vallabhabhai</cp:lastModifiedBy>
  <cp:revision>19</cp:revision>
  <dcterms:created xsi:type="dcterms:W3CDTF">2025-11-06T21:57:11Z</dcterms:created>
  <dcterms:modified xsi:type="dcterms:W3CDTF">2025-11-22T22:43:06Z</dcterms:modified>
</cp:coreProperties>
</file>