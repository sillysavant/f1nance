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" roundtripDataSignature="AMtx7mhoFjtYLmTSntknuFtyHbSm/B6j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3744950" y="1031500"/>
            <a:ext cx="1756800" cy="7152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FFFFFF"/>
                </a:solidFill>
              </a:rPr>
              <a:t>F1nance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474425" y="2803150"/>
            <a:ext cx="1502100" cy="7152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01. Account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167913" y="2803150"/>
            <a:ext cx="1502100" cy="7152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02. </a:t>
            </a:r>
            <a:r>
              <a:rPr lang="en"/>
              <a:t>Budget Tracking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3872301" y="2803150"/>
            <a:ext cx="1502100" cy="7152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03. </a:t>
            </a:r>
            <a:r>
              <a:rPr lang="en"/>
              <a:t>AI Advising &amp; Financial Literacy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5566437" y="2803150"/>
            <a:ext cx="1502100" cy="7152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04. </a:t>
            </a:r>
            <a:r>
              <a:rPr lang="en"/>
              <a:t>Tax &amp; Compliance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1"/>
          <p:cNvCxnSpPr>
            <a:endCxn id="55" idx="0"/>
          </p:cNvCxnSpPr>
          <p:nvPr/>
        </p:nvCxnSpPr>
        <p:spPr>
          <a:xfrm flipH="1">
            <a:off x="1225475" y="2215450"/>
            <a:ext cx="8100" cy="58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" name="Google Shape;60;p1"/>
          <p:cNvCxnSpPr>
            <a:stCxn id="56" idx="0"/>
          </p:cNvCxnSpPr>
          <p:nvPr/>
        </p:nvCxnSpPr>
        <p:spPr>
          <a:xfrm rot="10800000">
            <a:off x="2918963" y="2228650"/>
            <a:ext cx="0" cy="57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1" name="Google Shape;61;p1"/>
          <p:cNvCxnSpPr/>
          <p:nvPr/>
        </p:nvCxnSpPr>
        <p:spPr>
          <a:xfrm rot="10800000">
            <a:off x="8036039" y="2215450"/>
            <a:ext cx="0" cy="58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2" name="Google Shape;62;p1"/>
          <p:cNvSpPr/>
          <p:nvPr/>
        </p:nvSpPr>
        <p:spPr>
          <a:xfrm>
            <a:off x="7285012" y="2803150"/>
            <a:ext cx="1502100" cy="7152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05. </a:t>
            </a:r>
            <a:r>
              <a:rPr lang="en"/>
              <a:t>Support &amp;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"/>
          <p:cNvCxnSpPr>
            <a:stCxn id="54" idx="2"/>
            <a:endCxn id="57" idx="0"/>
          </p:cNvCxnSpPr>
          <p:nvPr/>
        </p:nvCxnSpPr>
        <p:spPr>
          <a:xfrm>
            <a:off x="4623350" y="1746700"/>
            <a:ext cx="0" cy="105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" name="Google Shape;64;p1"/>
          <p:cNvCxnSpPr/>
          <p:nvPr/>
        </p:nvCxnSpPr>
        <p:spPr>
          <a:xfrm rot="10800000">
            <a:off x="6317463" y="2228500"/>
            <a:ext cx="0" cy="58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5" name="Google Shape;65;p1"/>
          <p:cNvCxnSpPr/>
          <p:nvPr/>
        </p:nvCxnSpPr>
        <p:spPr>
          <a:xfrm>
            <a:off x="1248000" y="2228500"/>
            <a:ext cx="678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"/>
          <p:cNvSpPr txBox="1"/>
          <p:nvPr/>
        </p:nvSpPr>
        <p:spPr>
          <a:xfrm>
            <a:off x="621754" y="3477525"/>
            <a:ext cx="12558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Kavya Sri Myakala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2291075" y="3477525"/>
            <a:ext cx="12558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Aasmeen Shaik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3949275" y="3477525"/>
            <a:ext cx="13908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Sai Swaroop Manne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5689575" y="3477525"/>
            <a:ext cx="12558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Vinh Long Tran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7420975" y="3477525"/>
            <a:ext cx="12558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Mounika Musku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1946563" y="290951"/>
            <a:ext cx="53142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F1nance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Functional Decomposition Diagram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Google Shape;76;p2"/>
          <p:cNvCxnSpPr/>
          <p:nvPr/>
        </p:nvCxnSpPr>
        <p:spPr>
          <a:xfrm>
            <a:off x="421975" y="2772638"/>
            <a:ext cx="7137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" name="Google Shape;77;p2"/>
          <p:cNvCxnSpPr/>
          <p:nvPr/>
        </p:nvCxnSpPr>
        <p:spPr>
          <a:xfrm>
            <a:off x="5980775" y="1111438"/>
            <a:ext cx="1166700" cy="163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" name="Google Shape;78;p2"/>
          <p:cNvCxnSpPr/>
          <p:nvPr/>
        </p:nvCxnSpPr>
        <p:spPr>
          <a:xfrm flipH="1" rot="10800000">
            <a:off x="4924325" y="2772642"/>
            <a:ext cx="978600" cy="168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" name="Google Shape;79;p2"/>
          <p:cNvCxnSpPr/>
          <p:nvPr/>
        </p:nvCxnSpPr>
        <p:spPr>
          <a:xfrm flipH="1" rot="10800000">
            <a:off x="1735250" y="2806763"/>
            <a:ext cx="978600" cy="168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" name="Google Shape;80;p2"/>
          <p:cNvCxnSpPr/>
          <p:nvPr/>
        </p:nvCxnSpPr>
        <p:spPr>
          <a:xfrm>
            <a:off x="3385325" y="1111438"/>
            <a:ext cx="1166700" cy="163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2"/>
          <p:cNvSpPr/>
          <p:nvPr/>
        </p:nvSpPr>
        <p:spPr>
          <a:xfrm>
            <a:off x="2685274" y="687050"/>
            <a:ext cx="1374300" cy="419725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02. </a:t>
            </a:r>
            <a:r>
              <a:rPr lang="en" sz="1200">
                <a:solidFill>
                  <a:schemeClr val="dk1"/>
                </a:solidFill>
              </a:rPr>
              <a:t>Budget Tracking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410350" y="687050"/>
            <a:ext cx="1509000" cy="419725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01. Account Management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4300364" y="4411847"/>
            <a:ext cx="1292700" cy="569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 </a:t>
            </a:r>
            <a:r>
              <a:rPr lang="en" sz="1200">
                <a:solidFill>
                  <a:schemeClr val="dk1"/>
                </a:solidFill>
              </a:rPr>
              <a:t>Tax &amp; Compliance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7559875" y="2464438"/>
            <a:ext cx="1292700" cy="62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F1nance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-75775" y="1275338"/>
            <a:ext cx="1425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Financial Coaching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4885288" y="1320889"/>
            <a:ext cx="1374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Account Creation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2"/>
          <p:cNvCxnSpPr/>
          <p:nvPr/>
        </p:nvCxnSpPr>
        <p:spPr>
          <a:xfrm rot="10800000">
            <a:off x="6466375" y="1737463"/>
            <a:ext cx="941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" name="Google Shape;88;p2"/>
          <p:cNvSpPr txBox="1"/>
          <p:nvPr/>
        </p:nvSpPr>
        <p:spPr>
          <a:xfrm>
            <a:off x="2828528" y="2208375"/>
            <a:ext cx="15090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Income/Expenses Tracking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415437" y="1908982"/>
            <a:ext cx="1311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Financial Literacy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5261463" y="1922276"/>
            <a:ext cx="1616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Account Summary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2"/>
          <p:cNvCxnSpPr/>
          <p:nvPr/>
        </p:nvCxnSpPr>
        <p:spPr>
          <a:xfrm rot="10800000">
            <a:off x="5848275" y="2222651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2" name="Google Shape;92;p2"/>
          <p:cNvSpPr txBox="1"/>
          <p:nvPr/>
        </p:nvSpPr>
        <p:spPr>
          <a:xfrm>
            <a:off x="6587513" y="1442213"/>
            <a:ext cx="1616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lang="en" sz="1100"/>
              <a:t>Modification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2"/>
          <p:cNvCxnSpPr/>
          <p:nvPr/>
        </p:nvCxnSpPr>
        <p:spPr>
          <a:xfrm rot="10800000">
            <a:off x="4014613" y="1937651"/>
            <a:ext cx="87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p2"/>
          <p:cNvSpPr txBox="1"/>
          <p:nvPr/>
        </p:nvSpPr>
        <p:spPr>
          <a:xfrm>
            <a:off x="2442825" y="1152600"/>
            <a:ext cx="13110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Bank Accounts Management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91175" y="4442645"/>
            <a:ext cx="1292700" cy="569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05. </a:t>
            </a:r>
            <a:r>
              <a:rPr lang="en" sz="1200"/>
              <a:t>Support &amp; Operations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2"/>
          <p:cNvCxnSpPr/>
          <p:nvPr/>
        </p:nvCxnSpPr>
        <p:spPr>
          <a:xfrm>
            <a:off x="1023125" y="1111438"/>
            <a:ext cx="1166700" cy="163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" name="Google Shape;97;p2"/>
          <p:cNvSpPr/>
          <p:nvPr/>
        </p:nvSpPr>
        <p:spPr>
          <a:xfrm>
            <a:off x="323075" y="687050"/>
            <a:ext cx="1374300" cy="419725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03. </a:t>
            </a:r>
            <a:r>
              <a:rPr lang="en" sz="1200">
                <a:solidFill>
                  <a:schemeClr val="dk1"/>
                </a:solidFill>
              </a:rPr>
              <a:t>AI Advising &amp; Financial Literacy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"/>
          <p:cNvCxnSpPr/>
          <p:nvPr/>
        </p:nvCxnSpPr>
        <p:spPr>
          <a:xfrm rot="10800000">
            <a:off x="1576821" y="1880688"/>
            <a:ext cx="87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2"/>
          <p:cNvCxnSpPr/>
          <p:nvPr/>
        </p:nvCxnSpPr>
        <p:spPr>
          <a:xfrm rot="10800000">
            <a:off x="5424600" y="1601601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00" name="Google Shape;100;p2"/>
          <p:cNvCxnSpPr/>
          <p:nvPr/>
        </p:nvCxnSpPr>
        <p:spPr>
          <a:xfrm rot="10800000">
            <a:off x="2843775" y="1618113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01" name="Google Shape;101;p2"/>
          <p:cNvCxnSpPr/>
          <p:nvPr/>
        </p:nvCxnSpPr>
        <p:spPr>
          <a:xfrm rot="10800000">
            <a:off x="488750" y="1601613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02" name="Google Shape;102;p2"/>
          <p:cNvCxnSpPr/>
          <p:nvPr/>
        </p:nvCxnSpPr>
        <p:spPr>
          <a:xfrm rot="10800000">
            <a:off x="3309125" y="2265688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03" name="Google Shape;103;p2"/>
          <p:cNvCxnSpPr/>
          <p:nvPr/>
        </p:nvCxnSpPr>
        <p:spPr>
          <a:xfrm rot="10800000">
            <a:off x="913630" y="2223607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04" name="Google Shape;104;p2"/>
          <p:cNvCxnSpPr/>
          <p:nvPr/>
        </p:nvCxnSpPr>
        <p:spPr>
          <a:xfrm rot="10800000">
            <a:off x="5627525" y="3248926"/>
            <a:ext cx="941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2"/>
          <p:cNvSpPr txBox="1"/>
          <p:nvPr/>
        </p:nvSpPr>
        <p:spPr>
          <a:xfrm>
            <a:off x="5818150" y="2922050"/>
            <a:ext cx="15090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Resources Handling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2"/>
          <p:cNvCxnSpPr/>
          <p:nvPr/>
        </p:nvCxnSpPr>
        <p:spPr>
          <a:xfrm rot="10800000">
            <a:off x="5236525" y="3904463"/>
            <a:ext cx="941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p2"/>
          <p:cNvSpPr txBox="1"/>
          <p:nvPr/>
        </p:nvSpPr>
        <p:spPr>
          <a:xfrm>
            <a:off x="4274575" y="2956350"/>
            <a:ext cx="1166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Tax Guides Management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740625" y="2815775"/>
            <a:ext cx="17022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Subscription Monitoring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630108" y="1571395"/>
            <a:ext cx="15090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Receive Notifications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4006825" y="1563838"/>
            <a:ext cx="17022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Currency Tracing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2"/>
          <p:cNvCxnSpPr/>
          <p:nvPr/>
        </p:nvCxnSpPr>
        <p:spPr>
          <a:xfrm rot="10800000">
            <a:off x="4578525" y="3461401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2" name="Google Shape;112;p2"/>
          <p:cNvCxnSpPr/>
          <p:nvPr/>
        </p:nvCxnSpPr>
        <p:spPr>
          <a:xfrm rot="10800000">
            <a:off x="1588025" y="3206563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13" name="Google Shape;113;p2"/>
          <p:cNvSpPr txBox="1"/>
          <p:nvPr/>
        </p:nvSpPr>
        <p:spPr>
          <a:xfrm>
            <a:off x="5456649" y="3580051"/>
            <a:ext cx="1166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Policies Update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"/>
          <p:cNvCxnSpPr/>
          <p:nvPr/>
        </p:nvCxnSpPr>
        <p:spPr>
          <a:xfrm rot="10800000">
            <a:off x="6878175" y="2326476"/>
            <a:ext cx="941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Google Shape;115;p2"/>
          <p:cNvSpPr txBox="1"/>
          <p:nvPr/>
        </p:nvSpPr>
        <p:spPr>
          <a:xfrm>
            <a:off x="6999313" y="2031226"/>
            <a:ext cx="1616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Documents Upload</a:t>
            </a:r>
            <a:endParaRPr sz="1100"/>
          </a:p>
        </p:txBody>
      </p:sp>
      <p:sp>
        <p:nvSpPr>
          <p:cNvPr id="116" name="Google Shape;116;p2"/>
          <p:cNvSpPr txBox="1"/>
          <p:nvPr/>
        </p:nvSpPr>
        <p:spPr>
          <a:xfrm>
            <a:off x="2245725" y="3475363"/>
            <a:ext cx="18489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Payment Management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2"/>
          <p:cNvCxnSpPr/>
          <p:nvPr/>
        </p:nvCxnSpPr>
        <p:spPr>
          <a:xfrm rot="10800000">
            <a:off x="2157975" y="3782326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2"/>
          <p:cNvSpPr txBox="1"/>
          <p:nvPr/>
        </p:nvSpPr>
        <p:spPr>
          <a:xfrm>
            <a:off x="759825" y="3606213"/>
            <a:ext cx="15540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Users’ Request Handling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" name="Google Shape;119;p2"/>
          <p:cNvCxnSpPr/>
          <p:nvPr/>
        </p:nvCxnSpPr>
        <p:spPr>
          <a:xfrm rot="10800000">
            <a:off x="1091175" y="4087126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20" name="Google Shape;120;p2"/>
          <p:cNvSpPr txBox="1"/>
          <p:nvPr/>
        </p:nvSpPr>
        <p:spPr>
          <a:xfrm>
            <a:off x="2856475" y="110575"/>
            <a:ext cx="319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F1nance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Fish-bone Diagram</a:t>
            </a:r>
            <a:endParaRPr/>
          </a:p>
        </p:txBody>
      </p:sp>
      <p:cxnSp>
        <p:nvCxnSpPr>
          <p:cNvPr id="121" name="Google Shape;121;p2"/>
          <p:cNvCxnSpPr/>
          <p:nvPr/>
        </p:nvCxnSpPr>
        <p:spPr>
          <a:xfrm rot="10800000">
            <a:off x="1932499" y="2394851"/>
            <a:ext cx="876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" name="Google Shape;122;p2"/>
          <p:cNvSpPr txBox="1"/>
          <p:nvPr/>
        </p:nvSpPr>
        <p:spPr>
          <a:xfrm>
            <a:off x="1982478" y="1935944"/>
            <a:ext cx="9786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Engagement Monitoring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2"/>
          <p:cNvCxnSpPr/>
          <p:nvPr/>
        </p:nvCxnSpPr>
        <p:spPr>
          <a:xfrm rot="10800000">
            <a:off x="4198213" y="4163326"/>
            <a:ext cx="89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24" name="Google Shape;124;p2"/>
          <p:cNvSpPr txBox="1"/>
          <p:nvPr/>
        </p:nvSpPr>
        <p:spPr>
          <a:xfrm>
            <a:off x="3560600" y="3823975"/>
            <a:ext cx="15540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Reports Management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